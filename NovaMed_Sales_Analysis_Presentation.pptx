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0" r:id="rId1"/>
  </p:sldMasterIdLst>
  <p:sldIdLst>
    <p:sldId id="256" r:id="rId2"/>
    <p:sldId id="257" r:id="rId3"/>
    <p:sldId id="260" r:id="rId4"/>
    <p:sldId id="261" r:id="rId5"/>
    <p:sldId id="262" r:id="rId6"/>
    <p:sldId id="259" r:id="rId7"/>
    <p:sldId id="264" r:id="rId8"/>
    <p:sldId id="265" r:id="rId9"/>
    <p:sldId id="266" r:id="rId10"/>
    <p:sldId id="258" r:id="rId11"/>
    <p:sldId id="263" r:id="rId12"/>
    <p:sldId id="268" r:id="rId13"/>
    <p:sldId id="269" r:id="rId14"/>
    <p:sldId id="270" r:id="rId15"/>
    <p:sldId id="274"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70"/>
  </p:normalViewPr>
  <p:slideViewPr>
    <p:cSldViewPr snapToGrid="0">
      <p:cViewPr varScale="1">
        <p:scale>
          <a:sx n="96" d="100"/>
          <a:sy n="96" d="100"/>
        </p:scale>
        <p:origin x="192"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D8F7807-66C4-5147-97C6-AEDE141504F7}"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3954122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D8F7807-66C4-5147-97C6-AEDE141504F7}"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3912089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D8F7807-66C4-5147-97C6-AEDE141504F7}"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1069664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983358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D8F7807-66C4-5147-97C6-AEDE141504F7}" type="datetimeFigureOut">
              <a:rPr lang="en-US" smtClean="0"/>
              <a:t>9/28/25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16824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D8F7807-66C4-5147-97C6-AEDE141504F7}" type="datetimeFigureOut">
              <a:rPr lang="en-US" smtClean="0"/>
              <a:t>9/28/25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4038362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D8F7807-66C4-5147-97C6-AEDE141504F7}" type="datetimeFigureOut">
              <a:rPr lang="en-US" smtClean="0"/>
              <a:t>9/28/25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76141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2624122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203955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342079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80202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01289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D8F7807-66C4-5147-97C6-AEDE141504F7}"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336382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D8F7807-66C4-5147-97C6-AEDE141504F7}" type="datetimeFigureOut">
              <a:rPr lang="en-US" smtClean="0"/>
              <a:t>9/28/25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1157202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D8F7807-66C4-5147-97C6-AEDE141504F7}" type="datetimeFigureOut">
              <a:rPr lang="en-US" smtClean="0"/>
              <a:t>9/28/25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516187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D8F7807-66C4-5147-97C6-AEDE141504F7}"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2031493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D8F7807-66C4-5147-97C6-AEDE141504F7}"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E6FB8A-D8F0-3148-AAA2-3867DA016C01}" type="slidenum">
              <a:rPr lang="en-US" smtClean="0"/>
              <a:t>‹#›</a:t>
            </a:fld>
            <a:endParaRPr lang="en-US"/>
          </a:p>
        </p:txBody>
      </p:sp>
    </p:spTree>
    <p:extLst>
      <p:ext uri="{BB962C8B-B14F-4D97-AF65-F5344CB8AC3E}">
        <p14:creationId xmlns:p14="http://schemas.microsoft.com/office/powerpoint/2010/main" val="4023845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D8F7807-66C4-5147-97C6-AEDE141504F7}" type="datetimeFigureOut">
              <a:rPr lang="en-US" smtClean="0"/>
              <a:t>9/28/25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8E6FB8A-D8F0-3148-AAA2-3867DA016C01}" type="slidenum">
              <a:rPr lang="en-US" smtClean="0"/>
              <a:t>‹#›</a:t>
            </a:fld>
            <a:endParaRPr lang="en-US"/>
          </a:p>
        </p:txBody>
      </p:sp>
    </p:spTree>
    <p:extLst>
      <p:ext uri="{BB962C8B-B14F-4D97-AF65-F5344CB8AC3E}">
        <p14:creationId xmlns:p14="http://schemas.microsoft.com/office/powerpoint/2010/main" val="3770338597"/>
      </p:ext>
    </p:extLst>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 id="214748400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D3F7-D670-F20B-F1C1-B04BA4227F54}"/>
              </a:ext>
            </a:extLst>
          </p:cNvPr>
          <p:cNvSpPr>
            <a:spLocks noGrp="1"/>
          </p:cNvSpPr>
          <p:nvPr>
            <p:ph type="ctrTitle"/>
          </p:nvPr>
        </p:nvSpPr>
        <p:spPr>
          <a:xfrm>
            <a:off x="1296988" y="1300785"/>
            <a:ext cx="9144000" cy="2509213"/>
          </a:xfrm>
        </p:spPr>
        <p:txBody>
          <a:bodyPr>
            <a:normAutofit/>
          </a:bodyPr>
          <a:lstStyle/>
          <a:p>
            <a:r>
              <a:rPr lang="en-GB" sz="6600" b="1" dirty="0" err="1"/>
              <a:t>NovaMed</a:t>
            </a:r>
            <a:r>
              <a:rPr lang="en-GB" sz="6600" b="1" dirty="0"/>
              <a:t> Solutions</a:t>
            </a:r>
            <a:endParaRPr lang="en-US" sz="6600" b="1" dirty="0"/>
          </a:p>
        </p:txBody>
      </p:sp>
      <p:sp>
        <p:nvSpPr>
          <p:cNvPr id="3" name="Subtitle 2">
            <a:extLst>
              <a:ext uri="{FF2B5EF4-FFF2-40B4-BE49-F238E27FC236}">
                <a16:creationId xmlns:a16="http://schemas.microsoft.com/office/drawing/2014/main" id="{E138D78E-64A4-CDEC-9EF3-D2808E1B0D8A}"/>
              </a:ext>
            </a:extLst>
          </p:cNvPr>
          <p:cNvSpPr>
            <a:spLocks noGrp="1"/>
          </p:cNvSpPr>
          <p:nvPr>
            <p:ph type="subTitle" idx="1"/>
          </p:nvPr>
        </p:nvSpPr>
        <p:spPr>
          <a:xfrm>
            <a:off x="1524000" y="3602038"/>
            <a:ext cx="9144000" cy="651910"/>
          </a:xfrm>
        </p:spPr>
        <p:txBody>
          <a:bodyPr/>
          <a:lstStyle/>
          <a:p>
            <a:r>
              <a:rPr lang="en-US" b="1" dirty="0"/>
              <a:t>Sales Performance Analysis and Reporting</a:t>
            </a:r>
          </a:p>
        </p:txBody>
      </p:sp>
    </p:spTree>
    <p:extLst>
      <p:ext uri="{BB962C8B-B14F-4D97-AF65-F5344CB8AC3E}">
        <p14:creationId xmlns:p14="http://schemas.microsoft.com/office/powerpoint/2010/main" val="1131253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7B516-2D42-8A45-4784-6AC8B5ECF7EC}"/>
              </a:ext>
            </a:extLst>
          </p:cNvPr>
          <p:cNvSpPr>
            <a:spLocks noGrp="1"/>
          </p:cNvSpPr>
          <p:nvPr>
            <p:ph type="title"/>
          </p:nvPr>
        </p:nvSpPr>
        <p:spPr>
          <a:xfrm>
            <a:off x="913775" y="618518"/>
            <a:ext cx="10364451" cy="547674"/>
          </a:xfrm>
        </p:spPr>
        <p:txBody>
          <a:bodyPr>
            <a:normAutofit fontScale="90000"/>
          </a:bodyPr>
          <a:lstStyle/>
          <a:p>
            <a:pPr algn="l"/>
            <a:r>
              <a:rPr lang="en-GB" b="1" dirty="0"/>
              <a:t>Executive summary</a:t>
            </a:r>
            <a:endParaRPr lang="en-US" b="1" dirty="0"/>
          </a:p>
        </p:txBody>
      </p:sp>
      <p:sp>
        <p:nvSpPr>
          <p:cNvPr id="3" name="Content Placeholder 2">
            <a:extLst>
              <a:ext uri="{FF2B5EF4-FFF2-40B4-BE49-F238E27FC236}">
                <a16:creationId xmlns:a16="http://schemas.microsoft.com/office/drawing/2014/main" id="{596B288C-3E0F-E322-928A-B6C17107B054}"/>
              </a:ext>
            </a:extLst>
          </p:cNvPr>
          <p:cNvSpPr>
            <a:spLocks noGrp="1"/>
          </p:cNvSpPr>
          <p:nvPr>
            <p:ph sz="quarter" idx="13"/>
          </p:nvPr>
        </p:nvSpPr>
        <p:spPr>
          <a:xfrm>
            <a:off x="913774" y="1325218"/>
            <a:ext cx="10363826" cy="4465982"/>
          </a:xfrm>
        </p:spPr>
        <p:txBody>
          <a:bodyPr anchor="ctr">
            <a:normAutofit fontScale="92500" lnSpcReduction="20000"/>
          </a:bodyPr>
          <a:lstStyle/>
          <a:p>
            <a:pPr algn="just">
              <a:lnSpc>
                <a:spcPct val="150000"/>
              </a:lnSpc>
            </a:pPr>
            <a:r>
              <a:rPr lang="en-GB" dirty="0" err="1"/>
              <a:t>NovaMed</a:t>
            </a:r>
            <a:r>
              <a:rPr lang="en-GB" dirty="0"/>
              <a:t> Solutions, a leading pharmaceutical distributor, has been facing challenges in optimising sales performance, managing inventory effectively, and identifying key market opportunities. Despite these challenges, the company has amassed a rich dataset of sales, profit margins, drug performance, and customer demographics that can be leveraged for strategic growth. </a:t>
            </a:r>
          </a:p>
          <a:p>
            <a:pPr algn="just">
              <a:lnSpc>
                <a:spcPct val="150000"/>
              </a:lnSpc>
            </a:pPr>
            <a:r>
              <a:rPr lang="en-GB" dirty="0"/>
              <a:t>To address inefficiencies, an interactive Power BI Sales Performance Dashboard has been developed. This dashboard provides real-time insights into sales metrics, customer behaviours, and market trends, enabling stakeholders to make informed, data-driven decisions.</a:t>
            </a:r>
          </a:p>
          <a:p>
            <a:pPr algn="just">
              <a:lnSpc>
                <a:spcPct val="150000"/>
              </a:lnSpc>
            </a:pPr>
            <a:r>
              <a:rPr lang="en-GB" dirty="0"/>
              <a:t>Some analyses focused on 2022 and 2026 only, while some looked at the overall year the business has been operating (2022 - 2026).</a:t>
            </a:r>
          </a:p>
        </p:txBody>
      </p:sp>
    </p:spTree>
    <p:extLst>
      <p:ext uri="{BB962C8B-B14F-4D97-AF65-F5344CB8AC3E}">
        <p14:creationId xmlns:p14="http://schemas.microsoft.com/office/powerpoint/2010/main" val="26356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D0E9D165-5D22-AF20-B5C5-08F419234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BCE72-B07B-6B04-A213-FF6C13719EA8}"/>
              </a:ext>
            </a:extLst>
          </p:cNvPr>
          <p:cNvSpPr>
            <a:spLocks noGrp="1"/>
          </p:cNvSpPr>
          <p:nvPr>
            <p:ph type="title"/>
          </p:nvPr>
        </p:nvSpPr>
        <p:spPr>
          <a:xfrm>
            <a:off x="913775" y="618518"/>
            <a:ext cx="10364451" cy="547674"/>
          </a:xfrm>
        </p:spPr>
        <p:txBody>
          <a:bodyPr>
            <a:normAutofit fontScale="90000"/>
          </a:bodyPr>
          <a:lstStyle/>
          <a:p>
            <a:pPr algn="l"/>
            <a:r>
              <a:rPr lang="en-GB" b="1" dirty="0"/>
              <a:t>Business context</a:t>
            </a:r>
            <a:endParaRPr lang="en-US" b="1" dirty="0"/>
          </a:p>
        </p:txBody>
      </p:sp>
      <p:sp>
        <p:nvSpPr>
          <p:cNvPr id="3" name="Content Placeholder 2">
            <a:extLst>
              <a:ext uri="{FF2B5EF4-FFF2-40B4-BE49-F238E27FC236}">
                <a16:creationId xmlns:a16="http://schemas.microsoft.com/office/drawing/2014/main" id="{E5EFBA35-66D8-5BF1-61E0-A0B4010F0C3E}"/>
              </a:ext>
            </a:extLst>
          </p:cNvPr>
          <p:cNvSpPr>
            <a:spLocks noGrp="1"/>
          </p:cNvSpPr>
          <p:nvPr>
            <p:ph sz="quarter" idx="13"/>
          </p:nvPr>
        </p:nvSpPr>
        <p:spPr>
          <a:xfrm>
            <a:off x="913774" y="1325218"/>
            <a:ext cx="10363826" cy="4465982"/>
          </a:xfrm>
        </p:spPr>
        <p:txBody>
          <a:bodyPr anchor="ctr">
            <a:normAutofit/>
          </a:bodyPr>
          <a:lstStyle/>
          <a:p>
            <a:pPr algn="just">
              <a:lnSpc>
                <a:spcPct val="200000"/>
              </a:lnSpc>
            </a:pPr>
            <a:r>
              <a:rPr lang="en-GB" dirty="0"/>
              <a:t>The company serves a wide and diverse healthcare sector, ensuring the availability of essential medications. However, operational bottlenecks have arisen due to inaccurate demand forecasting, stock management inefficiencies, and limited customer engagement insights. By integrating sales and customer data into analytical dashboards, </a:t>
            </a:r>
            <a:r>
              <a:rPr lang="en-GB" dirty="0" err="1"/>
              <a:t>NovaMed</a:t>
            </a:r>
            <a:r>
              <a:rPr lang="en-GB" dirty="0"/>
              <a:t> Solutions now has a powerful tool to optimise performance and streamline operations.</a:t>
            </a:r>
          </a:p>
        </p:txBody>
      </p:sp>
    </p:spTree>
    <p:extLst>
      <p:ext uri="{BB962C8B-B14F-4D97-AF65-F5344CB8AC3E}">
        <p14:creationId xmlns:p14="http://schemas.microsoft.com/office/powerpoint/2010/main" val="211221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51A23F65-9C34-7EA2-849A-AA7F3E5E2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4FA44-D2AF-B51F-8338-C2A28B4E3742}"/>
              </a:ext>
            </a:extLst>
          </p:cNvPr>
          <p:cNvSpPr>
            <a:spLocks noGrp="1"/>
          </p:cNvSpPr>
          <p:nvPr>
            <p:ph type="title"/>
          </p:nvPr>
        </p:nvSpPr>
        <p:spPr>
          <a:xfrm>
            <a:off x="913775" y="618518"/>
            <a:ext cx="10364451" cy="547674"/>
          </a:xfrm>
        </p:spPr>
        <p:txBody>
          <a:bodyPr>
            <a:normAutofit fontScale="90000"/>
          </a:bodyPr>
          <a:lstStyle/>
          <a:p>
            <a:pPr algn="l"/>
            <a:r>
              <a:rPr lang="en-GB" b="1" dirty="0"/>
              <a:t>Key dashboard insights (2022 - 2026): TOP/BOTTOM</a:t>
            </a:r>
            <a:endParaRPr lang="en-US" b="1" dirty="0"/>
          </a:p>
        </p:txBody>
      </p:sp>
      <p:pic>
        <p:nvPicPr>
          <p:cNvPr id="9" name="Content Placeholder 8">
            <a:extLst>
              <a:ext uri="{FF2B5EF4-FFF2-40B4-BE49-F238E27FC236}">
                <a16:creationId xmlns:a16="http://schemas.microsoft.com/office/drawing/2014/main" id="{81E4E3A9-32AB-9E8B-BA09-2AC68FCA0C01}"/>
              </a:ext>
            </a:extLst>
          </p:cNvPr>
          <p:cNvPicPr>
            <a:picLocks noGrp="1" noChangeAspect="1"/>
          </p:cNvPicPr>
          <p:nvPr>
            <p:ph sz="quarter" idx="13"/>
          </p:nvPr>
        </p:nvPicPr>
        <p:blipFill>
          <a:blip r:embed="rId2"/>
          <a:stretch>
            <a:fillRect/>
          </a:stretch>
        </p:blipFill>
        <p:spPr>
          <a:xfrm>
            <a:off x="1744274" y="1179444"/>
            <a:ext cx="8703452" cy="5083889"/>
          </a:xfrm>
        </p:spPr>
      </p:pic>
    </p:spTree>
    <p:extLst>
      <p:ext uri="{BB962C8B-B14F-4D97-AF65-F5344CB8AC3E}">
        <p14:creationId xmlns:p14="http://schemas.microsoft.com/office/powerpoint/2010/main" val="3557222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D9ECA4E4-576B-1228-4C2F-0F723D14F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8C4FD-AA70-BE33-BE40-3B75FF38119F}"/>
              </a:ext>
            </a:extLst>
          </p:cNvPr>
          <p:cNvSpPr>
            <a:spLocks noGrp="1"/>
          </p:cNvSpPr>
          <p:nvPr>
            <p:ph type="title"/>
          </p:nvPr>
        </p:nvSpPr>
        <p:spPr>
          <a:xfrm>
            <a:off x="913775" y="618518"/>
            <a:ext cx="10364451" cy="547674"/>
          </a:xfrm>
        </p:spPr>
        <p:txBody>
          <a:bodyPr>
            <a:normAutofit fontScale="90000"/>
          </a:bodyPr>
          <a:lstStyle/>
          <a:p>
            <a:pPr algn="l"/>
            <a:r>
              <a:rPr lang="en-GB" b="1" dirty="0"/>
              <a:t>Key dashboard insights (2022 - 2026): CUSTOMER</a:t>
            </a:r>
            <a:endParaRPr lang="en-US" b="1" dirty="0"/>
          </a:p>
        </p:txBody>
      </p:sp>
      <p:pic>
        <p:nvPicPr>
          <p:cNvPr id="6" name="Content Placeholder 5">
            <a:extLst>
              <a:ext uri="{FF2B5EF4-FFF2-40B4-BE49-F238E27FC236}">
                <a16:creationId xmlns:a16="http://schemas.microsoft.com/office/drawing/2014/main" id="{5FFED8D3-3188-64EA-36F3-524CAFF28A68}"/>
              </a:ext>
            </a:extLst>
          </p:cNvPr>
          <p:cNvPicPr>
            <a:picLocks noGrp="1" noChangeAspect="1"/>
          </p:cNvPicPr>
          <p:nvPr>
            <p:ph sz="quarter" idx="13"/>
          </p:nvPr>
        </p:nvPicPr>
        <p:blipFill>
          <a:blip r:embed="rId2"/>
          <a:stretch>
            <a:fillRect/>
          </a:stretch>
        </p:blipFill>
        <p:spPr>
          <a:xfrm>
            <a:off x="1662603" y="1192696"/>
            <a:ext cx="8866793" cy="5162678"/>
          </a:xfrm>
        </p:spPr>
      </p:pic>
    </p:spTree>
    <p:extLst>
      <p:ext uri="{BB962C8B-B14F-4D97-AF65-F5344CB8AC3E}">
        <p14:creationId xmlns:p14="http://schemas.microsoft.com/office/powerpoint/2010/main" val="154735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75B76882-2527-0207-03A2-98E0B1220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5BB91-4DC3-0141-DA67-59BF7EB1E029}"/>
              </a:ext>
            </a:extLst>
          </p:cNvPr>
          <p:cNvSpPr>
            <a:spLocks noGrp="1"/>
          </p:cNvSpPr>
          <p:nvPr>
            <p:ph type="title"/>
          </p:nvPr>
        </p:nvSpPr>
        <p:spPr>
          <a:xfrm>
            <a:off x="913775" y="618518"/>
            <a:ext cx="10364451" cy="547674"/>
          </a:xfrm>
        </p:spPr>
        <p:txBody>
          <a:bodyPr>
            <a:normAutofit fontScale="90000"/>
          </a:bodyPr>
          <a:lstStyle/>
          <a:p>
            <a:pPr algn="l"/>
            <a:r>
              <a:rPr lang="en-GB" b="1" dirty="0"/>
              <a:t>Overall sales performance</a:t>
            </a:r>
            <a:endParaRPr lang="en-US" b="1" dirty="0"/>
          </a:p>
        </p:txBody>
      </p:sp>
      <p:sp>
        <p:nvSpPr>
          <p:cNvPr id="3" name="Content Placeholder 2">
            <a:extLst>
              <a:ext uri="{FF2B5EF4-FFF2-40B4-BE49-F238E27FC236}">
                <a16:creationId xmlns:a16="http://schemas.microsoft.com/office/drawing/2014/main" id="{0D24D255-F6AA-06AB-8CD2-B55A6212A73F}"/>
              </a:ext>
            </a:extLst>
          </p:cNvPr>
          <p:cNvSpPr>
            <a:spLocks noGrp="1"/>
          </p:cNvSpPr>
          <p:nvPr>
            <p:ph sz="quarter" idx="13"/>
          </p:nvPr>
        </p:nvSpPr>
        <p:spPr>
          <a:xfrm>
            <a:off x="913774" y="1325218"/>
            <a:ext cx="3870261" cy="4465982"/>
          </a:xfrm>
        </p:spPr>
        <p:txBody>
          <a:bodyPr anchor="ctr">
            <a:normAutofit fontScale="77500" lnSpcReduction="20000"/>
          </a:bodyPr>
          <a:lstStyle/>
          <a:p>
            <a:pPr marL="0" indent="0">
              <a:lnSpc>
                <a:spcPct val="150000"/>
              </a:lnSpc>
              <a:buNone/>
            </a:pPr>
            <a:r>
              <a:rPr lang="en-GB" dirty="0"/>
              <a:t>	</a:t>
            </a:r>
            <a:r>
              <a:rPr lang="en-GB" b="1" dirty="0"/>
              <a:t>2022</a:t>
            </a:r>
          </a:p>
          <a:p>
            <a:pPr>
              <a:lnSpc>
                <a:spcPct val="100000"/>
              </a:lnSpc>
            </a:pPr>
            <a:r>
              <a:rPr lang="en-GB" dirty="0"/>
              <a:t>Total Sales: £3M</a:t>
            </a:r>
          </a:p>
          <a:p>
            <a:pPr>
              <a:lnSpc>
                <a:spcPct val="100000"/>
              </a:lnSpc>
            </a:pPr>
            <a:r>
              <a:rPr lang="en-GB" dirty="0"/>
              <a:t> Gross Profit: £2.5M</a:t>
            </a:r>
          </a:p>
          <a:p>
            <a:pPr>
              <a:lnSpc>
                <a:spcPct val="100000"/>
              </a:lnSpc>
            </a:pPr>
            <a:r>
              <a:rPr lang="en-GB" dirty="0"/>
              <a:t> Total COGS: £0.5M</a:t>
            </a:r>
          </a:p>
          <a:p>
            <a:pPr>
              <a:lnSpc>
                <a:spcPct val="100000"/>
              </a:lnSpc>
            </a:pPr>
            <a:r>
              <a:rPr lang="en-GB" dirty="0"/>
              <a:t> Profit Margin: 82%</a:t>
            </a:r>
          </a:p>
          <a:p>
            <a:pPr>
              <a:lnSpc>
                <a:spcPct val="100000"/>
              </a:lnSpc>
            </a:pPr>
            <a:r>
              <a:rPr lang="en-GB" dirty="0"/>
              <a:t> Total Quantity Sold: 11K units</a:t>
            </a:r>
          </a:p>
          <a:p>
            <a:pPr>
              <a:lnSpc>
                <a:spcPct val="100000"/>
              </a:lnSpc>
            </a:pPr>
            <a:r>
              <a:rPr lang="en-GB" dirty="0"/>
              <a:t>	</a:t>
            </a:r>
          </a:p>
          <a:p>
            <a:pPr marL="0" indent="0">
              <a:lnSpc>
                <a:spcPct val="100000"/>
              </a:lnSpc>
              <a:buNone/>
            </a:pPr>
            <a:r>
              <a:rPr lang="en-GB" dirty="0"/>
              <a:t>	</a:t>
            </a:r>
            <a:r>
              <a:rPr lang="en-GB" b="1" dirty="0"/>
              <a:t>2026</a:t>
            </a:r>
          </a:p>
          <a:p>
            <a:pPr>
              <a:lnSpc>
                <a:spcPct val="100000"/>
              </a:lnSpc>
            </a:pPr>
            <a:r>
              <a:rPr lang="en-GB" dirty="0"/>
              <a:t>Total Sales: £0.4M</a:t>
            </a:r>
          </a:p>
          <a:p>
            <a:pPr>
              <a:lnSpc>
                <a:spcPct val="100000"/>
              </a:lnSpc>
            </a:pPr>
            <a:r>
              <a:rPr lang="en-GB" dirty="0"/>
              <a:t> Gross Profit: £ 0.4M</a:t>
            </a:r>
          </a:p>
          <a:p>
            <a:pPr>
              <a:lnSpc>
                <a:spcPct val="100000"/>
              </a:lnSpc>
            </a:pPr>
            <a:r>
              <a:rPr lang="en-GB" dirty="0"/>
              <a:t>Total Cost Of Goods Sold: £0.1M</a:t>
            </a:r>
          </a:p>
          <a:p>
            <a:pPr>
              <a:lnSpc>
                <a:spcPct val="100000"/>
              </a:lnSpc>
            </a:pPr>
            <a:r>
              <a:rPr lang="en-GB" dirty="0"/>
              <a:t>Profit Margin: 87 %</a:t>
            </a:r>
          </a:p>
          <a:p>
            <a:pPr>
              <a:lnSpc>
                <a:spcPct val="100000"/>
              </a:lnSpc>
            </a:pPr>
            <a:r>
              <a:rPr lang="en-GB" dirty="0"/>
              <a:t> Total Quantity Sold: 1387K units</a:t>
            </a:r>
            <a:endParaRPr lang="en-GB" b="1" dirty="0"/>
          </a:p>
        </p:txBody>
      </p:sp>
      <p:sp>
        <p:nvSpPr>
          <p:cNvPr id="4" name="TextBox 3">
            <a:extLst>
              <a:ext uri="{FF2B5EF4-FFF2-40B4-BE49-F238E27FC236}">
                <a16:creationId xmlns:a16="http://schemas.microsoft.com/office/drawing/2014/main" id="{E498E82A-56B9-F55C-FAA1-0B1A9C404349}"/>
              </a:ext>
            </a:extLst>
          </p:cNvPr>
          <p:cNvSpPr txBox="1"/>
          <p:nvPr/>
        </p:nvSpPr>
        <p:spPr>
          <a:xfrm>
            <a:off x="5420139" y="1363378"/>
            <a:ext cx="5976731" cy="4389663"/>
          </a:xfrm>
          <a:prstGeom prst="rect">
            <a:avLst/>
          </a:prstGeom>
          <a:noFill/>
        </p:spPr>
        <p:txBody>
          <a:bodyPr wrap="square" rtlCol="0" anchor="ctr">
            <a:spAutoFit/>
          </a:bodyPr>
          <a:lstStyle/>
          <a:p>
            <a:pPr algn="just">
              <a:lnSpc>
                <a:spcPct val="120000"/>
              </a:lnSpc>
            </a:pPr>
            <a:r>
              <a:rPr lang="en-GB" dirty="0"/>
              <a:t>BASED ON THESE ANALYSIS RESULTS, WE CAN SEE THAT NOVAMED SOLUTIONS HAS A SIGNIFICANT MARGIN IN THEIR TOTAL SALES, GROSS PROFIT, TOTAL COST OF GOODS SOLD, AND A SUBSTANTIAL REDUCTION IN THE TOTAL QUANTITY SOLD, EVEN THOUGH THE PROFIT MARGIN REMAINS CONSISTENT OVER THE YEARS. THIS COULD BE DUE TO MANY FACTORS; FOR EXAMPLE, IN 2022, ERGOCALCIFEROL HAD A GROSS PROFIT OF £2.5M, BUT IN 2026, IT WAS £0.4M, WHICH IS A VERY LOW FIGURE. DESPITE THIS, THE PROFIT MARGIN REMAINED LARGELY UNAFFECTED.</a:t>
            </a:r>
          </a:p>
          <a:p>
            <a:pPr algn="just">
              <a:lnSpc>
                <a:spcPct val="120000"/>
              </a:lnSpc>
            </a:pPr>
            <a:r>
              <a:rPr lang="en-GB" dirty="0"/>
              <a:t>SALES VOLUME &amp; GROSS PROFIT DROPPED SHARPLY IN 2026, BUT MARGINS IMPROVED.</a:t>
            </a:r>
          </a:p>
        </p:txBody>
      </p:sp>
    </p:spTree>
    <p:extLst>
      <p:ext uri="{BB962C8B-B14F-4D97-AF65-F5344CB8AC3E}">
        <p14:creationId xmlns:p14="http://schemas.microsoft.com/office/powerpoint/2010/main" val="2809799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BC51615F-D966-806D-627F-D59201649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58FEC-962E-DF75-A090-6CC64EBC6452}"/>
              </a:ext>
            </a:extLst>
          </p:cNvPr>
          <p:cNvSpPr>
            <a:spLocks noGrp="1"/>
          </p:cNvSpPr>
          <p:nvPr>
            <p:ph type="title"/>
          </p:nvPr>
        </p:nvSpPr>
        <p:spPr>
          <a:xfrm>
            <a:off x="913775" y="618518"/>
            <a:ext cx="10364451" cy="547674"/>
          </a:xfrm>
        </p:spPr>
        <p:txBody>
          <a:bodyPr>
            <a:normAutofit fontScale="90000"/>
          </a:bodyPr>
          <a:lstStyle/>
          <a:p>
            <a:pPr algn="l"/>
            <a:r>
              <a:rPr lang="en-GB" b="1" dirty="0"/>
              <a:t>MONTHLY TRENDS</a:t>
            </a:r>
            <a:endParaRPr lang="en-US" b="1" dirty="0"/>
          </a:p>
        </p:txBody>
      </p:sp>
      <p:sp>
        <p:nvSpPr>
          <p:cNvPr id="3" name="Content Placeholder 2">
            <a:extLst>
              <a:ext uri="{FF2B5EF4-FFF2-40B4-BE49-F238E27FC236}">
                <a16:creationId xmlns:a16="http://schemas.microsoft.com/office/drawing/2014/main" id="{5C26DBA8-C89D-0196-7EB2-D5007AE38FD8}"/>
              </a:ext>
            </a:extLst>
          </p:cNvPr>
          <p:cNvSpPr>
            <a:spLocks noGrp="1"/>
          </p:cNvSpPr>
          <p:nvPr>
            <p:ph sz="quarter" idx="13"/>
          </p:nvPr>
        </p:nvSpPr>
        <p:spPr>
          <a:xfrm>
            <a:off x="913774" y="1325218"/>
            <a:ext cx="10363826" cy="4465982"/>
          </a:xfrm>
        </p:spPr>
        <p:txBody>
          <a:bodyPr anchor="ctr"/>
          <a:lstStyle/>
          <a:p>
            <a:pPr marL="0" indent="0">
              <a:buNone/>
            </a:pPr>
            <a:r>
              <a:rPr lang="en-GB" dirty="0"/>
              <a:t>In 2022 the highest months were April(£0.32M),July(£0.29M) and September(£0.35M);</a:t>
            </a:r>
          </a:p>
          <a:p>
            <a:pPr marL="0" indent="0">
              <a:buNone/>
            </a:pPr>
            <a:r>
              <a:rPr lang="en-GB" dirty="0"/>
              <a:t>In 2026 the three highest months were January(£0.22M),July(£0.05M) and most of the other months less than £0.03;</a:t>
            </a:r>
          </a:p>
          <a:p>
            <a:pPr marL="0" indent="0">
              <a:buNone/>
            </a:pPr>
            <a:r>
              <a:rPr lang="en-GB" dirty="0"/>
              <a:t>With the above results, we can see a significant drop in the goods sold in a month, which could be a result of low sales, changes in the type of medications people buy, for example, it can be that people are buying medications with small price tags.</a:t>
            </a:r>
          </a:p>
        </p:txBody>
      </p:sp>
    </p:spTree>
    <p:extLst>
      <p:ext uri="{BB962C8B-B14F-4D97-AF65-F5344CB8AC3E}">
        <p14:creationId xmlns:p14="http://schemas.microsoft.com/office/powerpoint/2010/main" val="121991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071A88DC-38AE-F3CD-8708-A37F4E49B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1EA4E-A19C-68C9-B4CA-2753ED64A4B5}"/>
              </a:ext>
            </a:extLst>
          </p:cNvPr>
          <p:cNvSpPr>
            <a:spLocks noGrp="1"/>
          </p:cNvSpPr>
          <p:nvPr>
            <p:ph type="title"/>
          </p:nvPr>
        </p:nvSpPr>
        <p:spPr>
          <a:xfrm>
            <a:off x="913775" y="618518"/>
            <a:ext cx="10364451" cy="547674"/>
          </a:xfrm>
        </p:spPr>
        <p:txBody>
          <a:bodyPr>
            <a:normAutofit fontScale="90000"/>
          </a:bodyPr>
          <a:lstStyle/>
          <a:p>
            <a:pPr algn="l"/>
            <a:r>
              <a:rPr lang="en-GB" b="1" dirty="0"/>
              <a:t>CUSTOMER ANALYSIS</a:t>
            </a:r>
            <a:endParaRPr lang="en-US" b="1" dirty="0"/>
          </a:p>
        </p:txBody>
      </p:sp>
      <p:sp>
        <p:nvSpPr>
          <p:cNvPr id="3" name="Content Placeholder 2">
            <a:extLst>
              <a:ext uri="{FF2B5EF4-FFF2-40B4-BE49-F238E27FC236}">
                <a16:creationId xmlns:a16="http://schemas.microsoft.com/office/drawing/2014/main" id="{8A7EA71F-9B77-1756-FBE8-F58ED98C90AC}"/>
              </a:ext>
            </a:extLst>
          </p:cNvPr>
          <p:cNvSpPr>
            <a:spLocks noGrp="1"/>
          </p:cNvSpPr>
          <p:nvPr>
            <p:ph sz="quarter" idx="13"/>
          </p:nvPr>
        </p:nvSpPr>
        <p:spPr>
          <a:xfrm>
            <a:off x="913774" y="1325218"/>
            <a:ext cx="10363826" cy="4465982"/>
          </a:xfrm>
        </p:spPr>
        <p:txBody>
          <a:bodyPr anchor="ctr"/>
          <a:lstStyle/>
          <a:p>
            <a:pPr algn="just">
              <a:lnSpc>
                <a:spcPct val="200000"/>
              </a:lnSpc>
            </a:pPr>
            <a:r>
              <a:rPr lang="en-GB" dirty="0"/>
              <a:t>Total Customers: 200, Average Sale per Customer: FLUCTUATES WITH 2022 HAVING £17.6K AND 2026, £12.1K.</a:t>
            </a:r>
          </a:p>
          <a:p>
            <a:pPr algn="just">
              <a:lnSpc>
                <a:spcPct val="200000"/>
              </a:lnSpc>
            </a:pPr>
            <a:r>
              <a:rPr lang="en-GB" dirty="0"/>
              <a:t>2022 Top customers – Bob Johnson, David Johnson, Jane Brown (~£0.23–0.24M)</a:t>
            </a:r>
          </a:p>
          <a:p>
            <a:pPr algn="just">
              <a:lnSpc>
                <a:spcPct val="200000"/>
              </a:lnSpc>
            </a:pPr>
            <a:r>
              <a:rPr lang="en-GB" dirty="0"/>
              <a:t>2026 Top customers – David Johnson (£50K), David Brown (£47K), Jane Brown (£45K)</a:t>
            </a:r>
          </a:p>
          <a:p>
            <a:pPr algn="just">
              <a:lnSpc>
                <a:spcPct val="200000"/>
              </a:lnSpc>
            </a:pPr>
            <a:r>
              <a:rPr lang="en-GB" dirty="0"/>
              <a:t> SHOWS Strong loyalty, but sales per customer fell sharply in 2026.</a:t>
            </a:r>
          </a:p>
        </p:txBody>
      </p:sp>
    </p:spTree>
    <p:extLst>
      <p:ext uri="{BB962C8B-B14F-4D97-AF65-F5344CB8AC3E}">
        <p14:creationId xmlns:p14="http://schemas.microsoft.com/office/powerpoint/2010/main" val="2958271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A04DC59E-66CB-B515-7908-F63ADA74D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30E93-7F7F-59F0-E73F-FAD0FBF4F7F3}"/>
              </a:ext>
            </a:extLst>
          </p:cNvPr>
          <p:cNvSpPr>
            <a:spLocks noGrp="1"/>
          </p:cNvSpPr>
          <p:nvPr>
            <p:ph type="title"/>
          </p:nvPr>
        </p:nvSpPr>
        <p:spPr>
          <a:xfrm>
            <a:off x="913775" y="618518"/>
            <a:ext cx="10364451" cy="547674"/>
          </a:xfrm>
        </p:spPr>
        <p:txBody>
          <a:bodyPr>
            <a:normAutofit fontScale="90000"/>
          </a:bodyPr>
          <a:lstStyle/>
          <a:p>
            <a:pPr algn="l"/>
            <a:r>
              <a:rPr lang="en-GB" b="1" dirty="0"/>
              <a:t>Product Performance: top 5 drugs</a:t>
            </a:r>
            <a:endParaRPr lang="en-US" b="1" dirty="0"/>
          </a:p>
        </p:txBody>
      </p:sp>
      <p:sp>
        <p:nvSpPr>
          <p:cNvPr id="3" name="Content Placeholder 2">
            <a:extLst>
              <a:ext uri="{FF2B5EF4-FFF2-40B4-BE49-F238E27FC236}">
                <a16:creationId xmlns:a16="http://schemas.microsoft.com/office/drawing/2014/main" id="{8B7D6AE5-1CAA-1853-62C5-32CB673E7F28}"/>
              </a:ext>
            </a:extLst>
          </p:cNvPr>
          <p:cNvSpPr>
            <a:spLocks noGrp="1"/>
          </p:cNvSpPr>
          <p:nvPr>
            <p:ph sz="quarter" idx="13"/>
          </p:nvPr>
        </p:nvSpPr>
        <p:spPr>
          <a:xfrm>
            <a:off x="913774" y="1325218"/>
            <a:ext cx="10363826" cy="4465982"/>
          </a:xfrm>
        </p:spPr>
        <p:txBody>
          <a:bodyPr anchor="ctr"/>
          <a:lstStyle/>
          <a:p>
            <a:pPr algn="just">
              <a:lnSpc>
                <a:spcPct val="150000"/>
              </a:lnSpc>
            </a:pPr>
            <a:r>
              <a:rPr lang="en-GB" dirty="0"/>
              <a:t>In 2022: Ergocalciferol (£0.25M), Insulin Glargine (£0.19M), Lisinopril (£0.18M), Levothyroxine (£0.14M), Budesonide (£0.11M)</a:t>
            </a:r>
          </a:p>
          <a:p>
            <a:pPr algn="just">
              <a:lnSpc>
                <a:spcPct val="150000"/>
              </a:lnSpc>
            </a:pPr>
            <a:r>
              <a:rPr lang="en-GB" dirty="0"/>
              <a:t>in 2026: Ergocalciferol (£71K), Aspirin (£48K), Simvastatin (£46K), Lisinopril (£44K), Fentanyl (£39K)</a:t>
            </a:r>
          </a:p>
          <a:p>
            <a:pPr marL="0" indent="0" algn="just">
              <a:lnSpc>
                <a:spcPct val="150000"/>
              </a:lnSpc>
              <a:buNone/>
            </a:pPr>
            <a:r>
              <a:rPr lang="en-US" dirty="0"/>
              <a:t>Ergocalciferol remains the top performer in both periods, showing consistent demand. Insulin Glargine dropped out of the top 5, replaced by Aspirin, Simvastatin, and Fentanyl in the latest period—indicating a shift in therapeutic demand. Lisinopril maintained strong performance across both dashboards.</a:t>
            </a:r>
          </a:p>
        </p:txBody>
      </p:sp>
    </p:spTree>
    <p:extLst>
      <p:ext uri="{BB962C8B-B14F-4D97-AF65-F5344CB8AC3E}">
        <p14:creationId xmlns:p14="http://schemas.microsoft.com/office/powerpoint/2010/main" val="1131532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1699A934-6A71-A396-D1D1-B8ABDCAED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30A4B-78CC-F3EA-8A8B-7B7DE6ADE343}"/>
              </a:ext>
            </a:extLst>
          </p:cNvPr>
          <p:cNvSpPr>
            <a:spLocks noGrp="1"/>
          </p:cNvSpPr>
          <p:nvPr>
            <p:ph type="title"/>
          </p:nvPr>
        </p:nvSpPr>
        <p:spPr>
          <a:xfrm>
            <a:off x="913775" y="618518"/>
            <a:ext cx="10364451" cy="547674"/>
          </a:xfrm>
        </p:spPr>
        <p:txBody>
          <a:bodyPr>
            <a:normAutofit fontScale="90000"/>
          </a:bodyPr>
          <a:lstStyle/>
          <a:p>
            <a:pPr algn="l"/>
            <a:r>
              <a:rPr lang="en-GB" b="1" dirty="0"/>
              <a:t>Product Performance: bottom 5 drugs</a:t>
            </a:r>
            <a:endParaRPr lang="en-US" b="1" dirty="0"/>
          </a:p>
        </p:txBody>
      </p:sp>
      <p:sp>
        <p:nvSpPr>
          <p:cNvPr id="3" name="Content Placeholder 2">
            <a:extLst>
              <a:ext uri="{FF2B5EF4-FFF2-40B4-BE49-F238E27FC236}">
                <a16:creationId xmlns:a16="http://schemas.microsoft.com/office/drawing/2014/main" id="{E99C624E-29D3-195B-B588-BE5BFD47B816}"/>
              </a:ext>
            </a:extLst>
          </p:cNvPr>
          <p:cNvSpPr>
            <a:spLocks noGrp="1"/>
          </p:cNvSpPr>
          <p:nvPr>
            <p:ph sz="quarter" idx="13"/>
          </p:nvPr>
        </p:nvSpPr>
        <p:spPr>
          <a:xfrm>
            <a:off x="913774" y="1325218"/>
            <a:ext cx="10363826" cy="4465982"/>
          </a:xfrm>
        </p:spPr>
        <p:txBody>
          <a:bodyPr/>
          <a:lstStyle/>
          <a:p>
            <a:pPr algn="just"/>
            <a:r>
              <a:rPr lang="en-GB" dirty="0"/>
              <a:t>In 2022: Montelukast (£1.4K), Hydrochlorothiazide (£2.0K), Fluticasone (£3.9K), Warfarin (£4.1K), Prednisone (£7.5K)</a:t>
            </a:r>
          </a:p>
          <a:p>
            <a:pPr algn="just"/>
            <a:r>
              <a:rPr lang="en-GB" dirty="0"/>
              <a:t>in 2026: Fluticasone (£13.82), Montelukast (£30.59), Amoxicillin (£112), Metformin (£144), Pregabalin (£586)</a:t>
            </a:r>
          </a:p>
          <a:p>
            <a:pPr marL="0" indent="0" algn="just">
              <a:buNone/>
            </a:pPr>
            <a:r>
              <a:rPr lang="en-US" dirty="0"/>
              <a:t>Fluticasone and Montelukast remain low-profit drugs across 2022 and 2026, consistently weak performers. Prednisone &amp; Warfarin (bottom drugs earlier) are no longer in the bottom list, meaning their profitability improved or sales </a:t>
            </a:r>
            <a:r>
              <a:rPr lang="en-US" dirty="0" err="1"/>
              <a:t>stabilised</a:t>
            </a:r>
            <a:r>
              <a:rPr lang="en-US" dirty="0"/>
              <a:t>. New weak performers (Amoxicillin, Metformin, Pregabalin) suggest changing prescribing patterns or competitive pricing pressures.</a:t>
            </a:r>
          </a:p>
        </p:txBody>
      </p:sp>
    </p:spTree>
    <p:extLst>
      <p:ext uri="{BB962C8B-B14F-4D97-AF65-F5344CB8AC3E}">
        <p14:creationId xmlns:p14="http://schemas.microsoft.com/office/powerpoint/2010/main" val="3725440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ADAE8700-AC33-ECFB-0F51-61B5FC53F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23928-052E-A2DD-DF17-DDB22CF3C51E}"/>
              </a:ext>
            </a:extLst>
          </p:cNvPr>
          <p:cNvSpPr>
            <a:spLocks noGrp="1"/>
          </p:cNvSpPr>
          <p:nvPr>
            <p:ph type="title"/>
          </p:nvPr>
        </p:nvSpPr>
        <p:spPr>
          <a:xfrm>
            <a:off x="913775" y="618518"/>
            <a:ext cx="10364451" cy="547674"/>
          </a:xfrm>
        </p:spPr>
        <p:txBody>
          <a:bodyPr>
            <a:normAutofit fontScale="90000"/>
          </a:bodyPr>
          <a:lstStyle/>
          <a:p>
            <a:pPr algn="l"/>
            <a:r>
              <a:rPr lang="en-GB" b="1" dirty="0"/>
              <a:t>Demographic insights</a:t>
            </a:r>
            <a:endParaRPr lang="en-US" b="1" dirty="0"/>
          </a:p>
        </p:txBody>
      </p:sp>
      <p:sp>
        <p:nvSpPr>
          <p:cNvPr id="3" name="Content Placeholder 2">
            <a:extLst>
              <a:ext uri="{FF2B5EF4-FFF2-40B4-BE49-F238E27FC236}">
                <a16:creationId xmlns:a16="http://schemas.microsoft.com/office/drawing/2014/main" id="{2CE338C0-7D0C-66D4-85BB-0697884B1AA2}"/>
              </a:ext>
            </a:extLst>
          </p:cNvPr>
          <p:cNvSpPr>
            <a:spLocks noGrp="1"/>
          </p:cNvSpPr>
          <p:nvPr>
            <p:ph sz="quarter" idx="13"/>
          </p:nvPr>
        </p:nvSpPr>
        <p:spPr>
          <a:xfrm>
            <a:off x="913774" y="1325218"/>
            <a:ext cx="10363826" cy="4465982"/>
          </a:xfrm>
        </p:spPr>
        <p:txBody>
          <a:bodyPr anchor="ctr">
            <a:normAutofit fontScale="92500" lnSpcReduction="10000"/>
          </a:bodyPr>
          <a:lstStyle/>
          <a:p>
            <a:pPr algn="just"/>
            <a:r>
              <a:rPr lang="en-GB" dirty="0"/>
              <a:t>In 2022: Male 42.8%, Female 37.9%, Other 19.3%</a:t>
            </a:r>
          </a:p>
          <a:p>
            <a:pPr algn="just"/>
            <a:r>
              <a:rPr lang="en-GB" dirty="0"/>
              <a:t>In 2026: Male 63%, Female 16%, Other 21%</a:t>
            </a:r>
          </a:p>
          <a:p>
            <a:pPr marL="0" indent="0" algn="just">
              <a:buNone/>
            </a:pPr>
            <a:r>
              <a:rPr lang="en-GB" dirty="0"/>
              <a:t>Shift towards male consumers (42.8% → 63%). Female share dropped sharply (37.9% → 16%). "Other" remained relatively stable. Suggests a change in prescription focus (possibly more male-prevalent conditions being treated).</a:t>
            </a:r>
          </a:p>
          <a:p>
            <a:r>
              <a:rPr lang="en-GB" dirty="0"/>
              <a:t>Adults remain the highest spending age group, but total sales fell from £0.58M to £0.14M (Male) in 2026.</a:t>
            </a:r>
          </a:p>
          <a:p>
            <a:r>
              <a:rPr lang="en-GB" dirty="0"/>
              <a:t>Middle-aged group sales declined from £0.38M to £0.07M.</a:t>
            </a:r>
          </a:p>
          <a:p>
            <a:r>
              <a:rPr lang="en-GB" dirty="0"/>
              <a:t>Seniors and Youth also showed significant decreases.</a:t>
            </a:r>
          </a:p>
          <a:p>
            <a:r>
              <a:rPr lang="en-GB" dirty="0"/>
              <a:t>Gender distribution: Males maintained dominance, though all gender categories saw reduced sales</a:t>
            </a:r>
          </a:p>
        </p:txBody>
      </p:sp>
    </p:spTree>
    <p:extLst>
      <p:ext uri="{BB962C8B-B14F-4D97-AF65-F5344CB8AC3E}">
        <p14:creationId xmlns:p14="http://schemas.microsoft.com/office/powerpoint/2010/main" val="530035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38B4FEA0-ABD3-AB40-1E62-D84BE39A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65D23-9892-9443-98C5-ECA91F11A817}"/>
              </a:ext>
            </a:extLst>
          </p:cNvPr>
          <p:cNvSpPr>
            <a:spLocks noGrp="1"/>
          </p:cNvSpPr>
          <p:nvPr>
            <p:ph type="title"/>
          </p:nvPr>
        </p:nvSpPr>
        <p:spPr>
          <a:xfrm>
            <a:off x="913775" y="618518"/>
            <a:ext cx="10364451" cy="547674"/>
          </a:xfrm>
        </p:spPr>
        <p:txBody>
          <a:bodyPr>
            <a:normAutofit fontScale="90000"/>
          </a:bodyPr>
          <a:lstStyle/>
          <a:p>
            <a:pPr algn="l"/>
            <a:r>
              <a:rPr lang="en-GB" b="1" dirty="0"/>
              <a:t>OVERALL GEOGRAPHIC insights (2022 - 2026)</a:t>
            </a:r>
            <a:endParaRPr lang="en-US" b="1" dirty="0"/>
          </a:p>
        </p:txBody>
      </p:sp>
      <p:sp>
        <p:nvSpPr>
          <p:cNvPr id="3" name="Content Placeholder 2">
            <a:extLst>
              <a:ext uri="{FF2B5EF4-FFF2-40B4-BE49-F238E27FC236}">
                <a16:creationId xmlns:a16="http://schemas.microsoft.com/office/drawing/2014/main" id="{C5DCF6F4-BE73-BEA6-3B5A-C36DED7D9DA2}"/>
              </a:ext>
            </a:extLst>
          </p:cNvPr>
          <p:cNvSpPr>
            <a:spLocks noGrp="1"/>
          </p:cNvSpPr>
          <p:nvPr>
            <p:ph sz="quarter" idx="13"/>
          </p:nvPr>
        </p:nvSpPr>
        <p:spPr>
          <a:xfrm>
            <a:off x="913774" y="1325217"/>
            <a:ext cx="10363826" cy="4731025"/>
          </a:xfrm>
        </p:spPr>
        <p:txBody>
          <a:bodyPr anchor="ctr">
            <a:normAutofit fontScale="77500" lnSpcReduction="20000"/>
          </a:bodyPr>
          <a:lstStyle/>
          <a:p>
            <a:pPr marL="0" indent="0" algn="just">
              <a:buNone/>
            </a:pPr>
            <a:r>
              <a:rPr lang="en-US" dirty="0"/>
              <a:t>CANADA</a:t>
            </a:r>
          </a:p>
          <a:p>
            <a:pPr algn="just"/>
            <a:r>
              <a:rPr lang="en-US" dirty="0"/>
              <a:t>Customer Count: 86 (highest)</a:t>
            </a:r>
            <a:r>
              <a:rPr lang="en-GB" dirty="0"/>
              <a:t>, </a:t>
            </a:r>
            <a:r>
              <a:rPr lang="en-US" dirty="0"/>
              <a:t>New Customers: 30</a:t>
            </a:r>
            <a:r>
              <a:rPr lang="en-GB" dirty="0"/>
              <a:t>, </a:t>
            </a:r>
            <a:r>
              <a:rPr lang="en-US" dirty="0"/>
              <a:t>Preferred Customers: 34 AND FREQUENT BUYERS: 22</a:t>
            </a:r>
            <a:endParaRPr lang="en-GB" dirty="0"/>
          </a:p>
          <a:p>
            <a:pPr marL="0" indent="0" algn="just">
              <a:buNone/>
            </a:pPr>
            <a:r>
              <a:rPr lang="en-US" dirty="0"/>
              <a:t>Australia</a:t>
            </a:r>
            <a:endParaRPr lang="en-GB" dirty="0"/>
          </a:p>
          <a:p>
            <a:pPr algn="just"/>
            <a:r>
              <a:rPr lang="en-US" dirty="0"/>
              <a:t>Customer Count: 46</a:t>
            </a:r>
            <a:r>
              <a:rPr lang="en-GB" dirty="0"/>
              <a:t>, </a:t>
            </a:r>
            <a:r>
              <a:rPr lang="en-US" dirty="0"/>
              <a:t>New Customers: 12</a:t>
            </a:r>
            <a:r>
              <a:rPr lang="en-GB" dirty="0"/>
              <a:t>, </a:t>
            </a:r>
            <a:r>
              <a:rPr lang="en-US" dirty="0"/>
              <a:t>Preferred Customers: 13 AND FREQUENT BUYERS: 21</a:t>
            </a:r>
          </a:p>
          <a:p>
            <a:pPr marL="0" indent="0" algn="just">
              <a:buNone/>
            </a:pPr>
            <a:r>
              <a:rPr lang="en-GB" dirty="0"/>
              <a:t>GERMANY</a:t>
            </a:r>
          </a:p>
          <a:p>
            <a:pPr algn="just"/>
            <a:r>
              <a:rPr lang="en-US" dirty="0"/>
              <a:t>Customer Count: 19</a:t>
            </a:r>
            <a:r>
              <a:rPr lang="en-GB" dirty="0"/>
              <a:t>, </a:t>
            </a:r>
            <a:r>
              <a:rPr lang="en-US" dirty="0"/>
              <a:t>New Customers: 7</a:t>
            </a:r>
            <a:r>
              <a:rPr lang="en-GB" dirty="0"/>
              <a:t>, </a:t>
            </a:r>
            <a:r>
              <a:rPr lang="en-US" dirty="0"/>
              <a:t>Preferred Customers: 7 AND FREQUENT BUYERS: 5</a:t>
            </a:r>
            <a:endParaRPr lang="en-GB" dirty="0"/>
          </a:p>
          <a:p>
            <a:pPr marL="0" indent="0" algn="just">
              <a:buNone/>
            </a:pPr>
            <a:r>
              <a:rPr lang="en-GB" dirty="0"/>
              <a:t>FRANCE</a:t>
            </a:r>
          </a:p>
          <a:p>
            <a:pPr algn="just"/>
            <a:r>
              <a:rPr lang="en-US" dirty="0"/>
              <a:t>Customer Count: 17</a:t>
            </a:r>
            <a:r>
              <a:rPr lang="en-GB" dirty="0"/>
              <a:t>, </a:t>
            </a:r>
            <a:r>
              <a:rPr lang="en-US" dirty="0"/>
              <a:t>New Customers: 6</a:t>
            </a:r>
            <a:r>
              <a:rPr lang="en-GB" dirty="0"/>
              <a:t>, </a:t>
            </a:r>
            <a:r>
              <a:rPr lang="en-US" dirty="0"/>
              <a:t>Preferred Customers: 3 AND FREQUENT BUYERS: 8</a:t>
            </a:r>
          </a:p>
          <a:p>
            <a:pPr marL="0" indent="0" algn="just">
              <a:buNone/>
            </a:pPr>
            <a:r>
              <a:rPr lang="en-US" dirty="0"/>
              <a:t>UNITED KINGDOM</a:t>
            </a:r>
          </a:p>
          <a:p>
            <a:pPr algn="just"/>
            <a:r>
              <a:rPr lang="en-US" dirty="0"/>
              <a:t>Customer Count: 17</a:t>
            </a:r>
            <a:r>
              <a:rPr lang="en-GB" dirty="0"/>
              <a:t>, </a:t>
            </a:r>
            <a:r>
              <a:rPr lang="en-US" dirty="0"/>
              <a:t>New Customers: 6</a:t>
            </a:r>
            <a:r>
              <a:rPr lang="en-GB" dirty="0"/>
              <a:t>, </a:t>
            </a:r>
            <a:r>
              <a:rPr lang="en-US" dirty="0"/>
              <a:t>Preferred Customers: 4 AND FREQUENT BUYERS: 7</a:t>
            </a:r>
          </a:p>
          <a:p>
            <a:pPr marL="0" indent="0" algn="just">
              <a:buNone/>
            </a:pPr>
            <a:r>
              <a:rPr lang="en-US" dirty="0"/>
              <a:t>UNITED STATES</a:t>
            </a:r>
          </a:p>
          <a:p>
            <a:pPr algn="just"/>
            <a:r>
              <a:rPr lang="en-US" dirty="0"/>
              <a:t>Customer Count: 15</a:t>
            </a:r>
            <a:r>
              <a:rPr lang="en-GB" dirty="0"/>
              <a:t>, </a:t>
            </a:r>
            <a:r>
              <a:rPr lang="en-US" dirty="0"/>
              <a:t>New Customers: 6</a:t>
            </a:r>
            <a:r>
              <a:rPr lang="en-GB" dirty="0"/>
              <a:t>, </a:t>
            </a:r>
            <a:r>
              <a:rPr lang="en-US" dirty="0"/>
              <a:t>Preferred Customers: 6 AND FREQUENT BUYERS: 3</a:t>
            </a:r>
            <a:endParaRPr lang="en-GB" dirty="0"/>
          </a:p>
        </p:txBody>
      </p:sp>
    </p:spTree>
    <p:extLst>
      <p:ext uri="{BB962C8B-B14F-4D97-AF65-F5344CB8AC3E}">
        <p14:creationId xmlns:p14="http://schemas.microsoft.com/office/powerpoint/2010/main" val="1888310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378778FE-4ECE-2FF1-0931-34A881EE3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FEC27-FF11-0F19-517F-0468DEEB9290}"/>
              </a:ext>
            </a:extLst>
          </p:cNvPr>
          <p:cNvSpPr>
            <a:spLocks noGrp="1"/>
          </p:cNvSpPr>
          <p:nvPr>
            <p:ph type="title"/>
          </p:nvPr>
        </p:nvSpPr>
        <p:spPr>
          <a:xfrm>
            <a:off x="913775" y="618518"/>
            <a:ext cx="10364451" cy="547674"/>
          </a:xfrm>
        </p:spPr>
        <p:txBody>
          <a:bodyPr>
            <a:normAutofit fontScale="90000"/>
          </a:bodyPr>
          <a:lstStyle/>
          <a:p>
            <a:pPr algn="l"/>
            <a:r>
              <a:rPr lang="en-GB" b="1" dirty="0"/>
              <a:t>OVERALL GEOGRAPHIC insights (2022 - 2026)</a:t>
            </a:r>
            <a:endParaRPr lang="en-US" b="1" dirty="0"/>
          </a:p>
        </p:txBody>
      </p:sp>
      <p:sp>
        <p:nvSpPr>
          <p:cNvPr id="3" name="Content Placeholder 2">
            <a:extLst>
              <a:ext uri="{FF2B5EF4-FFF2-40B4-BE49-F238E27FC236}">
                <a16:creationId xmlns:a16="http://schemas.microsoft.com/office/drawing/2014/main" id="{239663BD-FB58-24B8-06F2-4041C86CB963}"/>
              </a:ext>
            </a:extLst>
          </p:cNvPr>
          <p:cNvSpPr>
            <a:spLocks noGrp="1"/>
          </p:cNvSpPr>
          <p:nvPr>
            <p:ph sz="quarter" idx="13"/>
          </p:nvPr>
        </p:nvSpPr>
        <p:spPr>
          <a:xfrm>
            <a:off x="913774" y="1325217"/>
            <a:ext cx="10363826" cy="4731025"/>
          </a:xfrm>
        </p:spPr>
        <p:txBody>
          <a:bodyPr anchor="ctr">
            <a:normAutofit/>
          </a:bodyPr>
          <a:lstStyle/>
          <a:p>
            <a:pPr marL="0" indent="0">
              <a:buNone/>
            </a:pPr>
            <a:r>
              <a:rPr lang="en-GB" dirty="0"/>
              <a:t>TOTAL CUSTOMERS FROM 2022 – 2026 IS 200</a:t>
            </a:r>
          </a:p>
          <a:p>
            <a:r>
              <a:rPr lang="en-GB" dirty="0"/>
              <a:t>Canada and Australia represent the highest-revenue markets, suggesting regional demand concentration.</a:t>
            </a:r>
          </a:p>
          <a:p>
            <a:r>
              <a:rPr lang="en-GB" dirty="0"/>
              <a:t>AUSTRALIA AND GERMANY </a:t>
            </a:r>
            <a:r>
              <a:rPr lang="en-US" dirty="0"/>
              <a:t>also have a balanced mix of new and preferred customers, showing both acquisition and retention success</a:t>
            </a:r>
            <a:r>
              <a:rPr lang="en-GB" dirty="0"/>
              <a:t> </a:t>
            </a:r>
          </a:p>
        </p:txBody>
      </p:sp>
    </p:spTree>
    <p:extLst>
      <p:ext uri="{BB962C8B-B14F-4D97-AF65-F5344CB8AC3E}">
        <p14:creationId xmlns:p14="http://schemas.microsoft.com/office/powerpoint/2010/main" val="3651052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9C4D5CB4-C029-ACC0-301E-3603F6D23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C2C42-A3ED-940C-53B8-76A1B715A1A3}"/>
              </a:ext>
            </a:extLst>
          </p:cNvPr>
          <p:cNvSpPr>
            <a:spLocks noGrp="1"/>
          </p:cNvSpPr>
          <p:nvPr>
            <p:ph type="title"/>
          </p:nvPr>
        </p:nvSpPr>
        <p:spPr>
          <a:xfrm>
            <a:off x="913775" y="618518"/>
            <a:ext cx="10364451" cy="547674"/>
          </a:xfrm>
        </p:spPr>
        <p:txBody>
          <a:bodyPr>
            <a:normAutofit fontScale="90000"/>
          </a:bodyPr>
          <a:lstStyle/>
          <a:p>
            <a:pPr algn="l"/>
            <a:r>
              <a:rPr lang="en-GB" b="1" dirty="0"/>
              <a:t>BUYER TYPE (2022 - 2026)</a:t>
            </a:r>
            <a:endParaRPr lang="en-US" b="1" dirty="0"/>
          </a:p>
        </p:txBody>
      </p:sp>
      <p:sp>
        <p:nvSpPr>
          <p:cNvPr id="3" name="Content Placeholder 2">
            <a:extLst>
              <a:ext uri="{FF2B5EF4-FFF2-40B4-BE49-F238E27FC236}">
                <a16:creationId xmlns:a16="http://schemas.microsoft.com/office/drawing/2014/main" id="{4AF70A6E-5B99-3698-A666-1A33F7EF8B4D}"/>
              </a:ext>
            </a:extLst>
          </p:cNvPr>
          <p:cNvSpPr>
            <a:spLocks noGrp="1"/>
          </p:cNvSpPr>
          <p:nvPr>
            <p:ph sz="quarter" idx="13"/>
          </p:nvPr>
        </p:nvSpPr>
        <p:spPr>
          <a:xfrm>
            <a:off x="913774" y="1325217"/>
            <a:ext cx="10363826" cy="4731025"/>
          </a:xfrm>
        </p:spPr>
        <p:txBody>
          <a:bodyPr anchor="ctr">
            <a:normAutofit fontScale="92500" lnSpcReduction="10000"/>
          </a:bodyPr>
          <a:lstStyle/>
          <a:p>
            <a:pPr marL="0" indent="0">
              <a:buNone/>
            </a:pPr>
            <a:r>
              <a:rPr lang="en-US" dirty="0"/>
              <a:t>Seller:</a:t>
            </a:r>
            <a:endParaRPr lang="en-GB" dirty="0"/>
          </a:p>
          <a:p>
            <a:r>
              <a:rPr lang="en-US" dirty="0"/>
              <a:t>Total Sales: £63M</a:t>
            </a:r>
            <a:endParaRPr lang="en-GB" dirty="0"/>
          </a:p>
          <a:p>
            <a:r>
              <a:rPr lang="en-US" dirty="0"/>
              <a:t>Represents the dominant buyer type, contributing approximately 88.7% of total sales (£71M combined).</a:t>
            </a:r>
            <a:endParaRPr lang="en-GB" dirty="0"/>
          </a:p>
          <a:p>
            <a:r>
              <a:rPr lang="en-US" dirty="0"/>
              <a:t>Sellers are the core revenue drivers for the business. Their large share suggests they may be bulk buyers, distributors, or businesses purchasing for resale.</a:t>
            </a:r>
          </a:p>
          <a:p>
            <a:pPr marL="0" indent="0">
              <a:buNone/>
            </a:pPr>
            <a:r>
              <a:rPr lang="en-US" dirty="0"/>
              <a:t>User:</a:t>
            </a:r>
            <a:endParaRPr lang="en-GB" dirty="0"/>
          </a:p>
          <a:p>
            <a:r>
              <a:rPr lang="en-US" dirty="0"/>
              <a:t>Total Sales: £8M</a:t>
            </a:r>
            <a:endParaRPr lang="en-GB" dirty="0"/>
          </a:p>
          <a:p>
            <a:r>
              <a:rPr lang="en-US" dirty="0"/>
              <a:t>Makes up only 11.3% of total sales.</a:t>
            </a:r>
            <a:endParaRPr lang="en-GB" dirty="0"/>
          </a:p>
          <a:p>
            <a:r>
              <a:rPr lang="en-US" dirty="0"/>
              <a:t>These are likely end consumers or individual customers. The significantly lower volume suggests either lower product consumption or fewer users in the market</a:t>
            </a:r>
            <a:r>
              <a:rPr lang="en-GB" dirty="0"/>
              <a:t> </a:t>
            </a:r>
          </a:p>
        </p:txBody>
      </p:sp>
    </p:spTree>
    <p:extLst>
      <p:ext uri="{BB962C8B-B14F-4D97-AF65-F5344CB8AC3E}">
        <p14:creationId xmlns:p14="http://schemas.microsoft.com/office/powerpoint/2010/main" val="3835005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E986E24B-D9BB-D30B-55AE-CC9786ECC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B624A9-F3B4-E14C-4A18-0FCF17CEBCBF}"/>
              </a:ext>
            </a:extLst>
          </p:cNvPr>
          <p:cNvSpPr>
            <a:spLocks noGrp="1"/>
          </p:cNvSpPr>
          <p:nvPr>
            <p:ph type="title"/>
          </p:nvPr>
        </p:nvSpPr>
        <p:spPr>
          <a:xfrm>
            <a:off x="913775" y="618518"/>
            <a:ext cx="10364451" cy="547674"/>
          </a:xfrm>
        </p:spPr>
        <p:txBody>
          <a:bodyPr>
            <a:normAutofit fontScale="90000"/>
          </a:bodyPr>
          <a:lstStyle/>
          <a:p>
            <a:pPr algn="l"/>
            <a:r>
              <a:rPr lang="en-GB" b="1" dirty="0"/>
              <a:t>BUYER TYPE (2022 - 2026)</a:t>
            </a:r>
            <a:endParaRPr lang="en-US" b="1" dirty="0"/>
          </a:p>
        </p:txBody>
      </p:sp>
      <p:sp>
        <p:nvSpPr>
          <p:cNvPr id="3" name="Content Placeholder 2">
            <a:extLst>
              <a:ext uri="{FF2B5EF4-FFF2-40B4-BE49-F238E27FC236}">
                <a16:creationId xmlns:a16="http://schemas.microsoft.com/office/drawing/2014/main" id="{521468D1-F591-0099-253A-296164ED2EDF}"/>
              </a:ext>
            </a:extLst>
          </p:cNvPr>
          <p:cNvSpPr>
            <a:spLocks noGrp="1"/>
          </p:cNvSpPr>
          <p:nvPr>
            <p:ph sz="quarter" idx="13"/>
          </p:nvPr>
        </p:nvSpPr>
        <p:spPr>
          <a:xfrm>
            <a:off x="913774" y="1325217"/>
            <a:ext cx="10363826" cy="4731025"/>
          </a:xfrm>
        </p:spPr>
        <p:txBody>
          <a:bodyPr anchor="ctr">
            <a:normAutofit/>
          </a:bodyPr>
          <a:lstStyle/>
          <a:p>
            <a:r>
              <a:rPr lang="en-GB" dirty="0"/>
              <a:t>The company’s revenue relies heavily on sellers, suggesting a business model that is more B2B-focused than B2C.</a:t>
            </a:r>
            <a:br>
              <a:rPr lang="en-GB" dirty="0"/>
            </a:br>
            <a:r>
              <a:rPr lang="en-GB" dirty="0"/>
              <a:t>This highlights </a:t>
            </a:r>
            <a:r>
              <a:rPr lang="en-GB" dirty="0" err="1"/>
              <a:t>NovaMed’s</a:t>
            </a:r>
            <a:r>
              <a:rPr lang="en-GB" dirty="0"/>
              <a:t> core strength in B2B transactions, while expanding B2C channels could open additional revenue opportunities.</a:t>
            </a:r>
          </a:p>
          <a:p>
            <a:r>
              <a:rPr lang="en-GB" b="1" dirty="0"/>
              <a:t>Risk Factor:</a:t>
            </a:r>
            <a:br>
              <a:rPr lang="en-GB" dirty="0"/>
            </a:br>
            <a:r>
              <a:rPr lang="en-GB" dirty="0"/>
              <a:t>A strong dependence on a single customer segment—sellers—poses a risk if that group’s activity declines. Broadening the user base would help enhance stability.</a:t>
            </a:r>
          </a:p>
        </p:txBody>
      </p:sp>
    </p:spTree>
    <p:extLst>
      <p:ext uri="{BB962C8B-B14F-4D97-AF65-F5344CB8AC3E}">
        <p14:creationId xmlns:p14="http://schemas.microsoft.com/office/powerpoint/2010/main" val="3316120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20BEDC41-0EC7-5003-0CB5-519B43F6C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EDE66-3DB4-FC01-13E3-98D81F31BC7D}"/>
              </a:ext>
            </a:extLst>
          </p:cNvPr>
          <p:cNvSpPr>
            <a:spLocks noGrp="1"/>
          </p:cNvSpPr>
          <p:nvPr>
            <p:ph type="title"/>
          </p:nvPr>
        </p:nvSpPr>
        <p:spPr>
          <a:xfrm>
            <a:off x="913775" y="618518"/>
            <a:ext cx="10364451" cy="547674"/>
          </a:xfrm>
        </p:spPr>
        <p:txBody>
          <a:bodyPr>
            <a:normAutofit fontScale="90000"/>
          </a:bodyPr>
          <a:lstStyle/>
          <a:p>
            <a:pPr algn="l"/>
            <a:r>
              <a:rPr lang="en-GB" b="1" dirty="0"/>
              <a:t>OPPORTUNITIES AND RECOMMENDATION</a:t>
            </a:r>
            <a:endParaRPr lang="en-US" b="1" dirty="0"/>
          </a:p>
        </p:txBody>
      </p:sp>
      <p:sp>
        <p:nvSpPr>
          <p:cNvPr id="3" name="Content Placeholder 2">
            <a:extLst>
              <a:ext uri="{FF2B5EF4-FFF2-40B4-BE49-F238E27FC236}">
                <a16:creationId xmlns:a16="http://schemas.microsoft.com/office/drawing/2014/main" id="{74033742-4C31-B326-CE4C-95D461F70551}"/>
              </a:ext>
            </a:extLst>
          </p:cNvPr>
          <p:cNvSpPr>
            <a:spLocks noGrp="1"/>
          </p:cNvSpPr>
          <p:nvPr>
            <p:ph sz="quarter" idx="13"/>
          </p:nvPr>
        </p:nvSpPr>
        <p:spPr>
          <a:xfrm>
            <a:off x="913774" y="1325217"/>
            <a:ext cx="10363826" cy="4731025"/>
          </a:xfrm>
        </p:spPr>
        <p:txBody>
          <a:bodyPr anchor="ctr">
            <a:normAutofit/>
          </a:bodyPr>
          <a:lstStyle/>
          <a:p>
            <a:pPr algn="just"/>
            <a:r>
              <a:rPr lang="en-GB" dirty="0"/>
              <a:t>Implement predictive analytics to align drug availability with seasonal and demographic trends.</a:t>
            </a:r>
          </a:p>
          <a:p>
            <a:pPr algn="just"/>
            <a:r>
              <a:rPr lang="en-GB" dirty="0"/>
              <a:t>Strengthen loyalty programs for frequent buyers and convert new customers into preferred buyers.</a:t>
            </a:r>
          </a:p>
          <a:p>
            <a:pPr algn="just"/>
            <a:r>
              <a:rPr lang="en-GB" dirty="0"/>
              <a:t>Focus marketing on top-profit drugs and reassess underperforming drugs to decide whether to phase out or re-price them.</a:t>
            </a:r>
          </a:p>
          <a:p>
            <a:pPr algn="just"/>
            <a:r>
              <a:rPr lang="en-GB" dirty="0"/>
              <a:t>Increase focus on Canada and Australia while nurturing growth in Europe and the USA.</a:t>
            </a:r>
          </a:p>
          <a:p>
            <a:pPr algn="just"/>
            <a:r>
              <a:rPr lang="en-GB" dirty="0"/>
              <a:t>Leverage insights on gender and age to tailor campaigns, exploring youth and senior-specific healthcare products.</a:t>
            </a:r>
          </a:p>
        </p:txBody>
      </p:sp>
    </p:spTree>
    <p:extLst>
      <p:ext uri="{BB962C8B-B14F-4D97-AF65-F5344CB8AC3E}">
        <p14:creationId xmlns:p14="http://schemas.microsoft.com/office/powerpoint/2010/main" val="2115240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695F8E93-509D-48C5-F605-8097554B5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6DFFD-ABAF-F681-D08A-5373435EA56B}"/>
              </a:ext>
            </a:extLst>
          </p:cNvPr>
          <p:cNvSpPr>
            <a:spLocks noGrp="1"/>
          </p:cNvSpPr>
          <p:nvPr>
            <p:ph type="title"/>
          </p:nvPr>
        </p:nvSpPr>
        <p:spPr>
          <a:xfrm>
            <a:off x="913775" y="618518"/>
            <a:ext cx="10364451" cy="547674"/>
          </a:xfrm>
        </p:spPr>
        <p:txBody>
          <a:bodyPr>
            <a:normAutofit fontScale="90000"/>
          </a:bodyPr>
          <a:lstStyle/>
          <a:p>
            <a:pPr algn="l"/>
            <a:r>
              <a:rPr lang="en-GB" b="1" dirty="0"/>
              <a:t>OPPORTUNITIES AND RECOMMENDATION</a:t>
            </a:r>
            <a:endParaRPr lang="en-US" b="1" dirty="0"/>
          </a:p>
        </p:txBody>
      </p:sp>
      <p:sp>
        <p:nvSpPr>
          <p:cNvPr id="3" name="Content Placeholder 2">
            <a:extLst>
              <a:ext uri="{FF2B5EF4-FFF2-40B4-BE49-F238E27FC236}">
                <a16:creationId xmlns:a16="http://schemas.microsoft.com/office/drawing/2014/main" id="{EEAB7A70-D8B0-834B-B787-7B1E467B1F85}"/>
              </a:ext>
            </a:extLst>
          </p:cNvPr>
          <p:cNvSpPr>
            <a:spLocks noGrp="1"/>
          </p:cNvSpPr>
          <p:nvPr>
            <p:ph sz="quarter" idx="13"/>
          </p:nvPr>
        </p:nvSpPr>
        <p:spPr>
          <a:xfrm>
            <a:off x="913774" y="1325217"/>
            <a:ext cx="10363826" cy="4731025"/>
          </a:xfrm>
        </p:spPr>
        <p:txBody>
          <a:bodyPr anchor="ctr">
            <a:normAutofit/>
          </a:bodyPr>
          <a:lstStyle/>
          <a:p>
            <a:pPr algn="just"/>
            <a:r>
              <a:rPr lang="en-GB" dirty="0"/>
              <a:t>Explore direct-to-consumer digital sales models to diversify revenue.</a:t>
            </a:r>
          </a:p>
          <a:p>
            <a:pPr algn="just"/>
            <a:r>
              <a:rPr lang="en-GB" dirty="0"/>
              <a:t>Overall market contraction is evident from 2022 to 2026.</a:t>
            </a:r>
          </a:p>
          <a:p>
            <a:pPr algn="just"/>
            <a:r>
              <a:rPr lang="en-GB" dirty="0"/>
              <a:t>Focus on regaining customer base and reactivating lost markets such as Australia.</a:t>
            </a:r>
          </a:p>
          <a:p>
            <a:pPr algn="just"/>
            <a:r>
              <a:rPr lang="en-GB" dirty="0"/>
              <a:t>Targeted marketing for Adults and middle-aged groups remains crucial.</a:t>
            </a:r>
          </a:p>
          <a:p>
            <a:pPr algn="just"/>
            <a:r>
              <a:rPr lang="en-GB" dirty="0"/>
              <a:t>Efforts needed to attract New Customers and retain Frequent Buyers</a:t>
            </a:r>
          </a:p>
          <a:p>
            <a:pPr algn="just"/>
            <a:r>
              <a:rPr lang="en-GB" dirty="0"/>
              <a:t>Investigate female demographic decline → adjust marketing.</a:t>
            </a:r>
          </a:p>
          <a:p>
            <a:pPr algn="just"/>
            <a:endParaRPr lang="en-GB" dirty="0"/>
          </a:p>
        </p:txBody>
      </p:sp>
    </p:spTree>
    <p:extLst>
      <p:ext uri="{BB962C8B-B14F-4D97-AF65-F5344CB8AC3E}">
        <p14:creationId xmlns:p14="http://schemas.microsoft.com/office/powerpoint/2010/main" val="18401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1"/>
            </a:gs>
            <a:gs pos="100000">
              <a:schemeClr val="bg1">
                <a:lumMod val="85000"/>
              </a:schemeClr>
            </a:gs>
          </a:gsLst>
          <a:lin ang="5400000" scaled="0"/>
        </a:gradFill>
        <a:effectLst/>
      </p:bgPr>
    </p:bg>
    <p:spTree>
      <p:nvGrpSpPr>
        <p:cNvPr id="1" name="">
          <a:extLst>
            <a:ext uri="{FF2B5EF4-FFF2-40B4-BE49-F238E27FC236}">
              <a16:creationId xmlns:a16="http://schemas.microsoft.com/office/drawing/2014/main" id="{CCA5DEC3-2847-D803-1E66-AF6EF9F35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296AA-6AFC-FB26-641D-72772C801FAC}"/>
              </a:ext>
            </a:extLst>
          </p:cNvPr>
          <p:cNvSpPr>
            <a:spLocks noGrp="1"/>
          </p:cNvSpPr>
          <p:nvPr>
            <p:ph type="title"/>
          </p:nvPr>
        </p:nvSpPr>
        <p:spPr>
          <a:xfrm>
            <a:off x="913775" y="618518"/>
            <a:ext cx="10364451" cy="547674"/>
          </a:xfrm>
        </p:spPr>
        <p:txBody>
          <a:bodyPr>
            <a:normAutofit fontScale="90000"/>
          </a:bodyPr>
          <a:lstStyle/>
          <a:p>
            <a:pPr algn="l"/>
            <a:r>
              <a:rPr lang="en-GB" b="1" dirty="0"/>
              <a:t>CONCLUSION</a:t>
            </a:r>
            <a:endParaRPr lang="en-US" b="1" dirty="0"/>
          </a:p>
        </p:txBody>
      </p:sp>
      <p:sp>
        <p:nvSpPr>
          <p:cNvPr id="3" name="Content Placeholder 2">
            <a:extLst>
              <a:ext uri="{FF2B5EF4-FFF2-40B4-BE49-F238E27FC236}">
                <a16:creationId xmlns:a16="http://schemas.microsoft.com/office/drawing/2014/main" id="{17C4D356-8422-909E-EE09-DCA8E153987F}"/>
              </a:ext>
            </a:extLst>
          </p:cNvPr>
          <p:cNvSpPr>
            <a:spLocks noGrp="1"/>
          </p:cNvSpPr>
          <p:nvPr>
            <p:ph sz="quarter" idx="13"/>
          </p:nvPr>
        </p:nvSpPr>
        <p:spPr>
          <a:xfrm>
            <a:off x="913774" y="1325217"/>
            <a:ext cx="10363826" cy="4731025"/>
          </a:xfrm>
        </p:spPr>
        <p:txBody>
          <a:bodyPr anchor="ctr">
            <a:normAutofit/>
          </a:bodyPr>
          <a:lstStyle/>
          <a:p>
            <a:pPr algn="just">
              <a:lnSpc>
                <a:spcPct val="200000"/>
              </a:lnSpc>
            </a:pPr>
            <a:r>
              <a:rPr lang="en-GB" dirty="0" err="1"/>
              <a:t>NovaMed</a:t>
            </a:r>
            <a:r>
              <a:rPr lang="en-GB" dirty="0"/>
              <a:t> Solutions has a strong profit margin and established market presence but faces challenges in customer engagement, inventory management, and product optimisation. With the Power BI dashboard providing granular visibility into sales performance, product profitability, and customer demographics, the company is well-positioned to make data-driven decisions that will drive sustainable growth.</a:t>
            </a:r>
          </a:p>
        </p:txBody>
      </p:sp>
    </p:spTree>
    <p:extLst>
      <p:ext uri="{BB962C8B-B14F-4D97-AF65-F5344CB8AC3E}">
        <p14:creationId xmlns:p14="http://schemas.microsoft.com/office/powerpoint/2010/main" val="142040710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{E6BF1F26-CA8D-D34B-8485-2D8903932F41}tf10001073_mac</Template>
  <TotalTime>645</TotalTime>
  <Words>1473</Words>
  <Application>Microsoft Macintosh PowerPoint</Application>
  <PresentationFormat>Widescreen</PresentationFormat>
  <Paragraphs>95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Tw Cen MT</vt:lpstr>
      <vt:lpstr>Droplet</vt:lpstr>
      <vt:lpstr>NovaMed Solutions</vt:lpstr>
      <vt:lpstr>Executive summary</vt:lpstr>
      <vt:lpstr>Business context</vt:lpstr>
      <vt:lpstr>Key dashboard insights (2022 - 2026): TOP/BOTTOM</vt:lpstr>
      <vt:lpstr>Key dashboard insights (2022 - 2026): CUSTOMER</vt:lpstr>
      <vt:lpstr>Overall sales performance</vt:lpstr>
      <vt:lpstr>MONTHLY TRENDS</vt:lpstr>
      <vt:lpstr>CUSTOMER ANALYSIS</vt:lpstr>
      <vt:lpstr>Product Performance: top 5 drugs</vt:lpstr>
      <vt:lpstr>Product Performance: bottom 5 drugs</vt:lpstr>
      <vt:lpstr>Demographic insights</vt:lpstr>
      <vt:lpstr>OVERALL GEOGRAPHIC insights (2022 - 2026)</vt:lpstr>
      <vt:lpstr>OVERALL GEOGRAPHIC insights (2022 - 2026)</vt:lpstr>
      <vt:lpstr>BUYER TYPE (2022 - 2026)</vt:lpstr>
      <vt:lpstr>BUYER TYPE (2022 - 2026)</vt:lpstr>
      <vt:lpstr>OPPORTUNITIES AND RECOMMENDATION</vt:lpstr>
      <vt:lpstr>OPPORTUNITIES AND 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Muyiwa oluwaseun</dc:creator>
  <cp:lastModifiedBy>Muyiwa oluwaseun</cp:lastModifiedBy>
  <cp:revision>8</cp:revision>
  <dcterms:created xsi:type="dcterms:W3CDTF">2025-09-28T07:38:18Z</dcterms:created>
  <dcterms:modified xsi:type="dcterms:W3CDTF">2025-09-28T18:23:39Z</dcterms:modified>
</cp:coreProperties>
</file>